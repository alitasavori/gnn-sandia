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21" r:id="rId2"/>
    <p:sldId id="315" r:id="rId3"/>
    <p:sldId id="31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9" autoAdjust="0"/>
    <p:restoredTop sz="95676" autoAdjust="0"/>
  </p:normalViewPr>
  <p:slideViewPr>
    <p:cSldViewPr snapToGrid="0">
      <p:cViewPr varScale="1">
        <p:scale>
          <a:sx n="93" d="100"/>
          <a:sy n="93" d="100"/>
        </p:scale>
        <p:origin x="66" y="150"/>
      </p:cViewPr>
      <p:guideLst/>
    </p:cSldViewPr>
  </p:slideViewPr>
  <p:outlineViewPr>
    <p:cViewPr>
      <p:scale>
        <a:sx n="33" d="100"/>
        <a:sy n="33" d="100"/>
      </p:scale>
      <p:origin x="0" y="-9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40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C7A84-805A-42C5-B996-4FEBD4BBD8B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3FE44-B54C-442C-AD3D-49283DEB8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3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0F26-B4A1-8492-9819-FD20FED6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6F2E8-3880-D016-FE7D-1E33D9D78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BFE8E-7A8D-8A01-01FA-32EA0213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5723-396E-4A1D-B9B4-97804026DAE6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A0B32-4891-0B1E-2B49-F2E4399E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40B7E-A93A-DA76-9E30-389743DE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1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ECE2-B053-1875-6B23-99BEB76B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6F5AC-DAC0-92D2-CF8B-413A536EC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56BB-0420-F56E-0372-77EE5F19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D1478-E837-440E-8835-6970084DD8FC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CB5DC-AA4D-C81F-F233-F9C5B2BA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99668" y="6346197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5A16DCC7-8C40-4546-A931-906FE0C5BA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1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7891-A26F-64AF-D523-05D538AD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EBCD-4E44-3791-6644-61D57E0BF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21D72-820B-12FE-6C2B-C2D5AFAE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D04CB-3CC1-4E4D-B9C9-03CB22F14646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A9815-0D48-2203-9EB6-22FF59FD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DFD11-1FCE-5E95-1C36-FEBE8374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3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4336-43C5-83C4-58DE-F93FF090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7371F-67D2-1A0A-5203-BCB7D54E2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1B07F-5A44-86E9-5392-840BC3CE5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14D1C-7169-524B-50EA-1E7EB930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0177-7230-4F7C-9D7F-FDB4E5C5B50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98517-1006-B7C7-46FD-EA55991C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A8C7F-CEA1-5A49-EE62-3A3A489D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63D-3E74-84DF-B825-387E7643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48ACC-89DB-BEE4-A4D3-954BB8A9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4A98F-E6E9-D1B4-2002-BEEE95433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1D9FA-C61B-5AB8-DFE4-8AE45E38C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C28CC-F0DD-B6E4-83BE-FF5632799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1600E-C9D0-CA86-A8B5-03CCC56B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51D27-9165-4A2C-A9A5-040AD730A8D3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E6ACC-1E75-F92D-5D9E-5FD0EBC5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495EC-34A1-1665-763F-D02C44DA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73C1-9618-BA28-5A57-540B72D9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0426A-55B2-E7F1-FCD9-ADD7E57B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A07E-4ABB-4B09-A22E-AB4C691A3AEF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00FBC-A756-B7F2-A523-26171EDC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3F3C6-5488-8951-0592-96AD5010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3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D6A58-FC52-C472-0332-DF395B4D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F784-B053-4D91-8702-669EBB3BAC0B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A3AB4-236D-2EAC-D30A-EAFCCF28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356D9-1C48-E9DD-B788-7CCD1D2A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6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9BB4-1D70-C544-DA68-0AD1350B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422D7-214F-A149-6154-C8E6D53A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FCC99-F810-D1EE-1A77-F117651F7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2DC66-9ADB-1BE8-E64D-21080A81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4FE7-4A4F-4CDF-9016-335E39677817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F49B1-FC7C-23E3-E5A9-A9BB3B5B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4A701-A46C-8ADF-DB7F-7FAF0981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4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3363-8346-C1D1-9A03-BE026A67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164CFA-EB9E-0337-C3BD-7E933799E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79CA2-0C50-1D4C-2DED-D41DCD9FE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2E915-39F1-A56F-9AC5-5EE8B36E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1A36-01A0-456F-8630-48AAC9234F5F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6E36A-8CA9-8268-0AC3-5EEF8536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D93D9-4812-A550-9966-8D2F9E73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9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98F5-10D0-80B3-78C5-003E8416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D23F7-F17C-7C9B-8FD6-375622C7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40A20-470F-C543-3444-B2121429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CE068-2FDD-4328-9A81-5E842720C089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85159-CFDA-127E-4932-D130C757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03DC9-DF28-A456-3B1C-D54CEE66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0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035B4-0A0E-8B9F-64B8-F8ADB4D51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82662-BD22-CE60-06E5-9BC96F8CF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A678-D75F-1AF1-64D3-3D97B5F9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DA99-5E6B-40A4-9B61-B086CEE0353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6D28C-D22B-00E8-1FC6-175260C8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92FF-282E-3F4C-8717-3D460F94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1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B89A9-4EB9-6B49-9B68-849F738E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C1134-0406-4654-0975-010A654D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C506D-5ACB-D64E-E639-D7B32AF81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8AC96-5C9C-4EF3-8F67-D2E7FA585AA5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EF6FF-FF6D-6F5D-F716-92E5C20FD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0CB85-754D-C6E5-0E1C-9E5901F66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6DCC7-8C40-4546-A931-906FE0C5B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5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DD7D-1C24-2873-02D8-CD617A2B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Power Flow with Time-Coupled Profiles for Generating Training Datasets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E1286-F52A-4D4E-8F96-C7ADD507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4272" y="6310312"/>
            <a:ext cx="2743200" cy="365125"/>
          </a:xfrm>
        </p:spPr>
        <p:txBody>
          <a:bodyPr/>
          <a:lstStyle/>
          <a:p>
            <a:fld id="{5A16DCC7-8C40-4546-A931-906FE0C5BAD2}" type="slidenum">
              <a:rPr lang="en-US" smtClean="0"/>
              <a:t>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5A81C9-41DF-ED27-393A-1D8AE5213346}"/>
                  </a:ext>
                </a:extLst>
              </p:cNvPr>
              <p:cNvSpPr/>
              <p:nvPr/>
            </p:nvSpPr>
            <p:spPr>
              <a:xfrm>
                <a:off x="316991" y="2336547"/>
                <a:ext cx="3382306" cy="53092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𝐷𝑒𝑓𝑖𝑛𝑖𝑛𝑔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𝑎𝑔𝑔𝑟𝑒𝑔𝑎𝑡𝑒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𝑣𝑎𝑙𝑢𝑒𝑠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𝑠𝑐𝑒𝑛𝑎𝑟𝑖𝑜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load</m:t>
                      </m:r>
                      <m:r>
                        <m:rPr>
                          <m:nor/>
                        </m:rP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load</m:t>
                      </m:r>
                      <m:r>
                        <m:rPr>
                          <m:nor/>
                        </m:rP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PV</m:t>
                      </m:r>
                      <m:r>
                        <m:rPr>
                          <m:nor/>
                        </m:rP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total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5A81C9-41DF-ED27-393A-1D8AE52133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91" y="2336547"/>
                <a:ext cx="3382306" cy="530924"/>
              </a:xfrm>
              <a:prstGeom prst="rect">
                <a:avLst/>
              </a:prstGeom>
              <a:blipFill>
                <a:blip r:embed="rId2"/>
                <a:stretch>
                  <a:fillRect l="-1075" b="-2222"/>
                </a:stretch>
              </a:blipFill>
              <a:ln>
                <a:solidFill>
                  <a:srgbClr val="C00000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DF7F3BF-C507-750B-7EE4-06E4527D67AA}"/>
                  </a:ext>
                </a:extLst>
              </p:cNvPr>
              <p:cNvSpPr/>
              <p:nvPr/>
            </p:nvSpPr>
            <p:spPr>
              <a:xfrm>
                <a:off x="637119" y="2996108"/>
                <a:ext cx="3062178" cy="48875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24−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h𝑜𝑢𝑟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𝑙𝑜𝑎𝑑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𝑖𝑟𝑟𝑎𝑑𝑖𝑎𝑛𝑐𝑒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𝑝𝑟𝑜𝑓𝑖𝑙𝑒𝑠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𝑚𝐿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𝑚𝑃𝑉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DF7F3BF-C507-750B-7EE4-06E4527D6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19" y="2996108"/>
                <a:ext cx="3062178" cy="488756"/>
              </a:xfrm>
              <a:prstGeom prst="rect">
                <a:avLst/>
              </a:prstGeom>
              <a:blipFill>
                <a:blip r:embed="rId3"/>
                <a:stretch>
                  <a:fillRect l="-1188" b="-4762"/>
                </a:stretch>
              </a:blipFill>
              <a:ln>
                <a:solidFill>
                  <a:srgbClr val="C00000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C466D5-B864-D626-0292-B0D9BAC2674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699297" y="2602009"/>
            <a:ext cx="95692" cy="303379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70AE84-0823-E5BA-19E1-F9D747B31F89}"/>
              </a:ext>
            </a:extLst>
          </p:cNvPr>
          <p:cNvCxnSpPr>
            <a:cxnSpLocks/>
          </p:cNvCxnSpPr>
          <p:nvPr/>
        </p:nvCxnSpPr>
        <p:spPr>
          <a:xfrm>
            <a:off x="3794989" y="2905389"/>
            <a:ext cx="2163726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3E801C-2B86-DAC5-1BBB-4A10B2FE5AE1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699297" y="2905388"/>
            <a:ext cx="95692" cy="33509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A79A9FE-14C8-5778-8FDC-AC96786FFF6E}"/>
              </a:ext>
            </a:extLst>
          </p:cNvPr>
          <p:cNvSpPr/>
          <p:nvPr/>
        </p:nvSpPr>
        <p:spPr>
          <a:xfrm>
            <a:off x="3747143" y="2943305"/>
            <a:ext cx="2211572" cy="693614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P_load</a:t>
            </a:r>
            <a:r>
              <a:rPr lang="en-US" sz="1100" i="1" dirty="0">
                <a:solidFill>
                  <a:schemeClr val="tx1"/>
                </a:solidFill>
                <a:latin typeface="Cambria Math" panose="02040503050406030204" pitchFamily="18" charset="0"/>
              </a:rPr>
              <a:t>(t) = </a:t>
            </a:r>
            <a:r>
              <a:rPr lang="en-US" sz="11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P_load_total</a:t>
            </a:r>
            <a:r>
              <a:rPr lang="en-US" sz="1100" i="1" dirty="0">
                <a:solidFill>
                  <a:schemeClr val="tx1"/>
                </a:solidFill>
                <a:latin typeface="Cambria Math" panose="02040503050406030204" pitchFamily="18" charset="0"/>
              </a:rPr>
              <a:t> × mL(t), </a:t>
            </a:r>
            <a:r>
              <a:rPr lang="en-US" sz="11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Q_load</a:t>
            </a:r>
            <a:r>
              <a:rPr lang="en-US" sz="1100" i="1" dirty="0">
                <a:solidFill>
                  <a:schemeClr val="tx1"/>
                </a:solidFill>
                <a:latin typeface="Cambria Math" panose="02040503050406030204" pitchFamily="18" charset="0"/>
              </a:rPr>
              <a:t>(t) = </a:t>
            </a:r>
            <a:r>
              <a:rPr lang="en-US" sz="11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Q_load_total</a:t>
            </a:r>
            <a:r>
              <a:rPr lang="en-US" sz="1100" i="1" dirty="0">
                <a:solidFill>
                  <a:schemeClr val="tx1"/>
                </a:solidFill>
                <a:latin typeface="Cambria Math" panose="02040503050406030204" pitchFamily="18" charset="0"/>
              </a:rPr>
              <a:t> × mL(t), P_PV(t) = </a:t>
            </a:r>
            <a:r>
              <a:rPr lang="en-US" sz="11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P_PV_total</a:t>
            </a:r>
            <a:r>
              <a:rPr lang="en-US" sz="1100" i="1" dirty="0">
                <a:solidFill>
                  <a:schemeClr val="tx1"/>
                </a:solidFill>
                <a:latin typeface="Cambria Math" panose="02040503050406030204" pitchFamily="18" charset="0"/>
              </a:rPr>
              <a:t> × </a:t>
            </a:r>
            <a:r>
              <a:rPr lang="en-US" sz="11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mPV</a:t>
            </a:r>
            <a:r>
              <a:rPr lang="en-US" sz="1100" i="1" dirty="0">
                <a:solidFill>
                  <a:schemeClr val="tx1"/>
                </a:solidFill>
                <a:latin typeface="Cambria Math" panose="02040503050406030204" pitchFamily="18" charset="0"/>
              </a:rPr>
              <a:t>(t).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8C773A-62D8-B273-9594-CDD83C958BF8}"/>
              </a:ext>
            </a:extLst>
          </p:cNvPr>
          <p:cNvSpPr/>
          <p:nvPr/>
        </p:nvSpPr>
        <p:spPr>
          <a:xfrm>
            <a:off x="3723217" y="2397934"/>
            <a:ext cx="2344477" cy="469537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Distribution to individual devices using predefined shares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FB4541-A895-CA5B-0A8A-CF794013B39A}"/>
              </a:ext>
            </a:extLst>
          </p:cNvPr>
          <p:cNvSpPr/>
          <p:nvPr/>
        </p:nvSpPr>
        <p:spPr>
          <a:xfrm>
            <a:off x="6043775" y="2013209"/>
            <a:ext cx="2030819" cy="3847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D842_844ra @ 844.1: 0.25% P, 0.24% Q | M1 | Wye | 1</a:t>
            </a:r>
            <a:r>
              <a:rPr lang="el-G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237518-B900-5D47-4384-4727380AF08A}"/>
              </a:ext>
            </a:extLst>
          </p:cNvPr>
          <p:cNvSpPr/>
          <p:nvPr/>
        </p:nvSpPr>
        <p:spPr>
          <a:xfrm>
            <a:off x="6043774" y="2525162"/>
            <a:ext cx="2030819" cy="3847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D844_846sb @ 844.2: 0.71% P, 0.57% Q | M1 | Wye | 1</a:t>
            </a:r>
            <a:r>
              <a:rPr lang="el-G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90B05A-5C41-A191-F4CE-139572C4BECD}"/>
              </a:ext>
            </a:extLst>
          </p:cNvPr>
          <p:cNvSpPr/>
          <p:nvPr/>
        </p:nvSpPr>
        <p:spPr>
          <a:xfrm>
            <a:off x="6043773" y="3015441"/>
            <a:ext cx="2030819" cy="3847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S844 @ 844: 22.89% P, 30.17% Q | M2 | Wye | 3</a:t>
            </a:r>
            <a:r>
              <a:rPr lang="el-G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E3A244-C7FD-BCFD-38F4-19AFB0544E8C}"/>
              </a:ext>
            </a:extLst>
          </p:cNvPr>
          <p:cNvSpPr/>
          <p:nvPr/>
        </p:nvSpPr>
        <p:spPr>
          <a:xfrm>
            <a:off x="6043773" y="3505720"/>
            <a:ext cx="2030819" cy="5745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D860_836sa @ 860.1.2 0.85% P, 0.72% Q | M1 | Delta | 1</a:t>
            </a:r>
            <a:r>
              <a:rPr lang="el-G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68F566-CAA1-1ECA-0AFC-CD02728E44C3}"/>
              </a:ext>
            </a:extLst>
          </p:cNvPr>
          <p:cNvSpPr txBox="1"/>
          <p:nvPr/>
        </p:nvSpPr>
        <p:spPr>
          <a:xfrm>
            <a:off x="6826598" y="4017673"/>
            <a:ext cx="349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3C20D63-053C-B534-60EA-D875B99CB577}"/>
              </a:ext>
            </a:extLst>
          </p:cNvPr>
          <p:cNvCxnSpPr>
            <a:cxnSpLocks/>
            <a:stCxn id="24" idx="3"/>
            <a:endCxn id="54" idx="1"/>
          </p:cNvCxnSpPr>
          <p:nvPr/>
        </p:nvCxnSpPr>
        <p:spPr>
          <a:xfrm>
            <a:off x="8074594" y="2205572"/>
            <a:ext cx="778632" cy="407497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E274BFD-4F37-8933-D2A8-90270D024FCA}"/>
              </a:ext>
            </a:extLst>
          </p:cNvPr>
          <p:cNvSpPr/>
          <p:nvPr/>
        </p:nvSpPr>
        <p:spPr>
          <a:xfrm>
            <a:off x="3362599" y="5900089"/>
            <a:ext cx="2195622" cy="469537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6E99A5-34EA-8C1E-D4FD-199A9A250123}"/>
              </a:ext>
            </a:extLst>
          </p:cNvPr>
          <p:cNvSpPr/>
          <p:nvPr/>
        </p:nvSpPr>
        <p:spPr>
          <a:xfrm>
            <a:off x="8074592" y="1621522"/>
            <a:ext cx="3120656" cy="469537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Per-device perturbation using normal distribution &amp; Aggregation to bus–phase nodes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B5D3777-E4CD-D25B-43C8-5E6AFC296337}"/>
              </a:ext>
            </a:extLst>
          </p:cNvPr>
          <p:cNvSpPr/>
          <p:nvPr/>
        </p:nvSpPr>
        <p:spPr>
          <a:xfrm>
            <a:off x="8853226" y="2327330"/>
            <a:ext cx="1010092" cy="5714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844.a</a:t>
            </a:r>
          </a:p>
          <a:p>
            <a:r>
              <a:rPr lang="en-US" sz="1200" dirty="0" err="1">
                <a:solidFill>
                  <a:schemeClr val="dk1"/>
                </a:solidFill>
              </a:rPr>
              <a:t>p_load_kw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dirty="0" err="1">
                <a:solidFill>
                  <a:schemeClr val="dk1"/>
                </a:solidFill>
              </a:rPr>
              <a:t>q_load_kvar</a:t>
            </a:r>
            <a:endParaRPr lang="el-G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216A80-F346-ECD6-9E71-51492ED3650D}"/>
              </a:ext>
            </a:extLst>
          </p:cNvPr>
          <p:cNvSpPr/>
          <p:nvPr/>
        </p:nvSpPr>
        <p:spPr>
          <a:xfrm>
            <a:off x="8853225" y="3004362"/>
            <a:ext cx="1010092" cy="5714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844.b</a:t>
            </a:r>
          </a:p>
          <a:p>
            <a:r>
              <a:rPr lang="en-US" sz="1200" dirty="0" err="1">
                <a:solidFill>
                  <a:schemeClr val="dk1"/>
                </a:solidFill>
              </a:rPr>
              <a:t>p_load_kw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dirty="0" err="1">
                <a:solidFill>
                  <a:schemeClr val="dk1"/>
                </a:solidFill>
              </a:rPr>
              <a:t>q_load_kvar</a:t>
            </a:r>
            <a:endParaRPr lang="el-G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8C40267-35D4-595F-E758-41507252B40C}"/>
              </a:ext>
            </a:extLst>
          </p:cNvPr>
          <p:cNvCxnSpPr>
            <a:cxnSpLocks/>
            <a:stCxn id="38" idx="3"/>
            <a:endCxn id="57" idx="1"/>
          </p:cNvCxnSpPr>
          <p:nvPr/>
        </p:nvCxnSpPr>
        <p:spPr>
          <a:xfrm>
            <a:off x="8074593" y="2717525"/>
            <a:ext cx="778632" cy="57257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23BB085-B344-B5AB-E078-FBC927F80C13}"/>
              </a:ext>
            </a:extLst>
          </p:cNvPr>
          <p:cNvCxnSpPr>
            <a:cxnSpLocks/>
            <a:stCxn id="39" idx="3"/>
            <a:endCxn id="57" idx="1"/>
          </p:cNvCxnSpPr>
          <p:nvPr/>
        </p:nvCxnSpPr>
        <p:spPr>
          <a:xfrm>
            <a:off x="8074592" y="3207804"/>
            <a:ext cx="778633" cy="82297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1CA46C8-898A-B304-ACDA-67F68DFFD95E}"/>
              </a:ext>
            </a:extLst>
          </p:cNvPr>
          <p:cNvCxnSpPr>
            <a:cxnSpLocks/>
            <a:stCxn id="39" idx="3"/>
            <a:endCxn id="54" idx="1"/>
          </p:cNvCxnSpPr>
          <p:nvPr/>
        </p:nvCxnSpPr>
        <p:spPr>
          <a:xfrm flipV="1">
            <a:off x="8074592" y="2613069"/>
            <a:ext cx="778634" cy="59473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9F37F8AB-04E5-7D68-E59D-3E717A302C24}"/>
              </a:ext>
            </a:extLst>
          </p:cNvPr>
          <p:cNvSpPr/>
          <p:nvPr/>
        </p:nvSpPr>
        <p:spPr>
          <a:xfrm>
            <a:off x="10001543" y="2322649"/>
            <a:ext cx="1010092" cy="759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844.a</a:t>
            </a:r>
          </a:p>
          <a:p>
            <a:r>
              <a:rPr lang="en-US" sz="1200" dirty="0">
                <a:solidFill>
                  <a:schemeClr val="dk1"/>
                </a:solidFill>
              </a:rPr>
              <a:t>m1_p_kw, m1_q_kvar,</a:t>
            </a:r>
          </a:p>
          <a:p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l-G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87514A-7BB7-A69B-6615-D39A0094262A}"/>
              </a:ext>
            </a:extLst>
          </p:cNvPr>
          <p:cNvSpPr/>
          <p:nvPr/>
        </p:nvSpPr>
        <p:spPr>
          <a:xfrm>
            <a:off x="9996223" y="3187963"/>
            <a:ext cx="1010092" cy="759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844.b</a:t>
            </a:r>
          </a:p>
          <a:p>
            <a:r>
              <a:rPr lang="en-US" sz="1200" dirty="0">
                <a:solidFill>
                  <a:schemeClr val="dk1"/>
                </a:solidFill>
              </a:rPr>
              <a:t>m1_p_kw, m1_q_kvar,</a:t>
            </a:r>
          </a:p>
          <a:p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l-G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896971-7CF4-F6E2-95FA-C421669312EC}"/>
              </a:ext>
            </a:extLst>
          </p:cNvPr>
          <p:cNvSpPr txBox="1"/>
          <p:nvPr/>
        </p:nvSpPr>
        <p:spPr>
          <a:xfrm>
            <a:off x="10245872" y="3930716"/>
            <a:ext cx="349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1973B9-9429-1B67-CEFD-130E49AA4C21}"/>
              </a:ext>
            </a:extLst>
          </p:cNvPr>
          <p:cNvSpPr txBox="1"/>
          <p:nvPr/>
        </p:nvSpPr>
        <p:spPr>
          <a:xfrm>
            <a:off x="9161792" y="3561384"/>
            <a:ext cx="349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CC6E018-C60D-438F-9CC0-B502F7FB5A75}"/>
              </a:ext>
            </a:extLst>
          </p:cNvPr>
          <p:cNvSpPr/>
          <p:nvPr/>
        </p:nvSpPr>
        <p:spPr>
          <a:xfrm>
            <a:off x="4870824" y="4966772"/>
            <a:ext cx="2275410" cy="469537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Second solve with zero PV  output to obtain </a:t>
            </a:r>
            <a:r>
              <a:rPr lang="en-US" sz="12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vmag_zero</a:t>
            </a:r>
            <a:endParaRPr lang="en-US" sz="1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(Only for the fifth model)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C6A04CE-3057-E7E4-2693-CEF01D31B2D5}"/>
              </a:ext>
            </a:extLst>
          </p:cNvPr>
          <p:cNvCxnSpPr>
            <a:cxnSpLocks/>
          </p:cNvCxnSpPr>
          <p:nvPr/>
        </p:nvCxnSpPr>
        <p:spPr>
          <a:xfrm>
            <a:off x="7001370" y="4774488"/>
            <a:ext cx="785971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703FB43-2EA0-76F3-AE5A-D030658D2AF2}"/>
              </a:ext>
            </a:extLst>
          </p:cNvPr>
          <p:cNvSpPr/>
          <p:nvPr/>
        </p:nvSpPr>
        <p:spPr>
          <a:xfrm>
            <a:off x="3947389" y="5346199"/>
            <a:ext cx="2344477" cy="469537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E11C1ED-25BA-7DD4-775F-F1D8FE979AB1}"/>
              </a:ext>
            </a:extLst>
          </p:cNvPr>
          <p:cNvSpPr/>
          <p:nvPr/>
        </p:nvSpPr>
        <p:spPr>
          <a:xfrm>
            <a:off x="4432943" y="4242984"/>
            <a:ext cx="2743200" cy="469537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Power flow solved using </a:t>
            </a:r>
            <a:r>
              <a:rPr lang="en-US" sz="1200" i="1" dirty="0" err="1">
                <a:solidFill>
                  <a:schemeClr val="tx1"/>
                </a:solidFill>
                <a:latin typeface="Cambria Math" panose="02040503050406030204" pitchFamily="18" charset="0"/>
              </a:rPr>
              <a:t>OpenDSS</a:t>
            </a:r>
            <a:endParaRPr lang="en-US" sz="1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915B01A-4CBA-477E-67F5-82E00C5879AA}"/>
              </a:ext>
            </a:extLst>
          </p:cNvPr>
          <p:cNvSpPr/>
          <p:nvPr/>
        </p:nvSpPr>
        <p:spPr>
          <a:xfrm>
            <a:off x="7787341" y="4539719"/>
            <a:ext cx="1010092" cy="469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vmag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node</a:t>
            </a:r>
            <a:endParaRPr lang="el-G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091AC97-5E65-5552-7F99-9AEAFCF3CD40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7001371" y="4387005"/>
            <a:ext cx="0" cy="1003059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2507CBF-8DEF-3724-B175-7DAC6A01BAAA}"/>
              </a:ext>
            </a:extLst>
          </p:cNvPr>
          <p:cNvCxnSpPr>
            <a:cxnSpLocks/>
          </p:cNvCxnSpPr>
          <p:nvPr/>
        </p:nvCxnSpPr>
        <p:spPr>
          <a:xfrm>
            <a:off x="7001369" y="5389570"/>
            <a:ext cx="785971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61342D0-2698-EF95-1F5E-B4D97E77A534}"/>
              </a:ext>
            </a:extLst>
          </p:cNvPr>
          <p:cNvSpPr/>
          <p:nvPr/>
        </p:nvSpPr>
        <p:spPr>
          <a:xfrm>
            <a:off x="7787340" y="5120090"/>
            <a:ext cx="2020049" cy="5706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vmag_delta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vmag_with_pv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vmag_zero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node</a:t>
            </a:r>
            <a:endParaRPr lang="el-G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80E981E-98E4-3B06-3896-C0E26BA7227C}"/>
              </a:ext>
            </a:extLst>
          </p:cNvPr>
          <p:cNvSpPr/>
          <p:nvPr/>
        </p:nvSpPr>
        <p:spPr>
          <a:xfrm>
            <a:off x="7636540" y="4442914"/>
            <a:ext cx="2275407" cy="137282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5E00869-064A-9D7D-7436-7DF755CFC8EA}"/>
              </a:ext>
            </a:extLst>
          </p:cNvPr>
          <p:cNvSpPr/>
          <p:nvPr/>
        </p:nvSpPr>
        <p:spPr>
          <a:xfrm>
            <a:off x="8830382" y="4302755"/>
            <a:ext cx="1174921" cy="344313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Training labels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09470D2-4979-CD68-2E84-C8116E60FED3}"/>
              </a:ext>
            </a:extLst>
          </p:cNvPr>
          <p:cNvSpPr/>
          <p:nvPr/>
        </p:nvSpPr>
        <p:spPr>
          <a:xfrm>
            <a:off x="8746227" y="2219307"/>
            <a:ext cx="2340126" cy="2167698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EE7ACA0-631B-D4EC-048D-E0BBCED7578C}"/>
              </a:ext>
            </a:extLst>
          </p:cNvPr>
          <p:cNvSpPr/>
          <p:nvPr/>
        </p:nvSpPr>
        <p:spPr>
          <a:xfrm>
            <a:off x="9348402" y="2058520"/>
            <a:ext cx="1739006" cy="208663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</a:rPr>
              <a:t>Training node features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DDC00B2-5A30-7098-2034-D8BC4677D786}"/>
              </a:ext>
            </a:extLst>
          </p:cNvPr>
          <p:cNvSpPr txBox="1"/>
          <p:nvPr/>
        </p:nvSpPr>
        <p:spPr>
          <a:xfrm>
            <a:off x="256595" y="6192799"/>
            <a:ext cx="3062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 for all models was performed on an </a:t>
            </a: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NVIDIA L4 GPU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36CB49D-0106-046C-4A6F-A2AB5D4D18F8}"/>
              </a:ext>
            </a:extLst>
          </p:cNvPr>
          <p:cNvSpPr txBox="1"/>
          <p:nvPr/>
        </p:nvSpPr>
        <p:spPr>
          <a:xfrm>
            <a:off x="330931" y="3793637"/>
            <a:ext cx="36718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mbedding vectors 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Nodes and edges differ but there is only one shared message function for all edges, one shared update for all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node/edge features for what we can measure, and learnable embeddings for static structure not in the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 are updated during training via gradient descent.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EDDD80F-E274-2840-2901-CECEE4E8DB89}"/>
              </a:ext>
            </a:extLst>
          </p:cNvPr>
          <p:cNvSpPr txBox="1"/>
          <p:nvPr/>
        </p:nvSpPr>
        <p:spPr>
          <a:xfrm>
            <a:off x="256595" y="5827791"/>
            <a:ext cx="3166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patial and temporal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breakdown</a:t>
            </a:r>
          </a:p>
        </p:txBody>
      </p:sp>
    </p:spTree>
    <p:extLst>
      <p:ext uri="{BB962C8B-B14F-4D97-AF65-F5344CB8AC3E}">
        <p14:creationId xmlns:p14="http://schemas.microsoft.com/office/powerpoint/2010/main" val="34424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2" grpId="0"/>
      <p:bldP spid="1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01A6-4928-2DE9-0087-DFFD3A37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1365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and Evolution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BDC00-A37C-13F9-02E4-A870B259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233927-8619-FEBD-6973-0A9E784FFEAB}"/>
              </a:ext>
            </a:extLst>
          </p:cNvPr>
          <p:cNvGraphicFramePr>
            <a:graphicFrameLocks noGrp="1"/>
          </p:cNvGraphicFramePr>
          <p:nvPr/>
        </p:nvGraphicFramePr>
        <p:xfrm>
          <a:off x="103943" y="1235710"/>
          <a:ext cx="1198306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498">
                  <a:extLst>
                    <a:ext uri="{9D8B030D-6E8A-4147-A177-3AD203B41FA5}">
                      <a16:colId xmlns:a16="http://schemas.microsoft.com/office/drawing/2014/main" val="383378185"/>
                    </a:ext>
                  </a:extLst>
                </a:gridCol>
                <a:gridCol w="2901316">
                  <a:extLst>
                    <a:ext uri="{9D8B030D-6E8A-4147-A177-3AD203B41FA5}">
                      <a16:colId xmlns:a16="http://schemas.microsoft.com/office/drawing/2014/main" val="2993869035"/>
                    </a:ext>
                  </a:extLst>
                </a:gridCol>
                <a:gridCol w="2456121">
                  <a:extLst>
                    <a:ext uri="{9D8B030D-6E8A-4147-A177-3AD203B41FA5}">
                      <a16:colId xmlns:a16="http://schemas.microsoft.com/office/drawing/2014/main" val="42209061"/>
                    </a:ext>
                  </a:extLst>
                </a:gridCol>
                <a:gridCol w="2445488">
                  <a:extLst>
                    <a:ext uri="{9D8B030D-6E8A-4147-A177-3AD203B41FA5}">
                      <a16:colId xmlns:a16="http://schemas.microsoft.com/office/drawing/2014/main" val="2610916682"/>
                    </a:ext>
                  </a:extLst>
                </a:gridCol>
                <a:gridCol w="834656">
                  <a:extLst>
                    <a:ext uri="{9D8B030D-6E8A-4147-A177-3AD203B41FA5}">
                      <a16:colId xmlns:a16="http://schemas.microsoft.com/office/drawing/2014/main" val="2512517941"/>
                    </a:ext>
                  </a:extLst>
                </a:gridCol>
                <a:gridCol w="2551983">
                  <a:extLst>
                    <a:ext uri="{9D8B030D-6E8A-4147-A177-3AD203B41FA5}">
                      <a16:colId xmlns:a16="http://schemas.microsoft.com/office/drawing/2014/main" val="932616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Node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Edge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Additional information*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Best RMSE achieved**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740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effectLst/>
                          <a:latin typeface="Segoe WP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p_load_kw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q_load_kvar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p_pv_kw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R_full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X_full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(self-impedance from impedance matrix, just for lines)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Bidirectional  / with embedding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Worst performance in buses with capacitor bank injection and buses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46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Segoe WPC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p_inj_kw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q_inj_kvar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q_load_kvar-q_cap_kvar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1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Bidirectional  / with embedding vectors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Worst performance in buses downstream of a transformer or a regulator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1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Segoe WPC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R_full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X_full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(including winding resistance and leakage reactance for transformers and voltage regulators)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Bidirectional  / with embedding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final realized values (post-solve) are immensely different from the nominal values (pre-solve)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655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Segoe WPC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m1_p_kw, m1_q_kvar, m2_p_kw, m2_q_kvar, m4_p_kw, m4_q_kvar, m5_p_kw, m5_q_kvar,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q_cap_kvar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p_pv_kw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number of training samples increased (worse performance with same number of training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0.01372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Worst performance in buses close to the source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9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Segoe WPC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Without node and edges embedding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0.01589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361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effectLst/>
                          <a:latin typeface="Segoe WPC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3.1, </a:t>
                      </a:r>
                      <a:r>
                        <a:rPr 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electrical_distance_ohm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p_sys_balance_kw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q_sys_balance_kvar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Unidirectional  / with embedding vectors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0.00912</a:t>
                      </a:r>
                      <a:endParaRPr lang="en-US" sz="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99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effectLst/>
                          <a:latin typeface="Segoe WPC"/>
                        </a:rP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Bidirectional  / with embedding vectors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0.00874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31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effectLst/>
                          <a:latin typeface="Segoe WPC"/>
                        </a:rPr>
                        <a:t>4.1</a:t>
                      </a:r>
                      <a:endParaRPr lang="en-US" sz="1000" b="0" i="0" dirty="0">
                        <a:effectLst/>
                        <a:latin typeface="Segoe W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3.2, phase_onehot_1, phase_onehot_2, phase_onehot_3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2.2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Bidirectional / Phase as one hot feature / with embedding vectors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0.00851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5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effectLst/>
                          <a:latin typeface="Segoe WPC"/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3.2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Same as 2.2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Bidirectional / Three different GNN trained each for one phase  / with embedding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0.00801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Training time substantially increased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0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effectLst/>
                          <a:latin typeface="Segoe WP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4.2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vmag_zero_pv_pu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Same as 2.2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Bidirectional / Three different GNN trained each for one phase  / with embedding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0.00836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8162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7EA1080-6E15-5597-92AD-66AECA311036}"/>
              </a:ext>
            </a:extLst>
          </p:cNvPr>
          <p:cNvSpPr txBox="1"/>
          <p:nvPr/>
        </p:nvSpPr>
        <p:spPr>
          <a:xfrm>
            <a:off x="104995" y="6356350"/>
            <a:ext cx="70719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all models use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h_dim=32, num_layers=4, node_emb_dim=8, edge_emb_dim=4 unless otherwise specified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vmag_pu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vmag_delta_pu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93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EE10-61B7-E05E-1353-BDD5BC31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dirty="0" err="1"/>
              <a:t>OpenDSS</a:t>
            </a:r>
            <a:r>
              <a:rPr lang="en-US" dirty="0"/>
              <a:t> vs GNN Predictions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2F2BF-E9FB-705E-CA77-C979849F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6DCC7-8C40-4546-A931-906FE0C5BAD2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67B4967-5E2E-EF8F-1674-1A7162841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997" y="1358965"/>
            <a:ext cx="8989017" cy="536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CB0482-BA8C-96C9-402A-527FE0C7E474}"/>
              </a:ext>
            </a:extLst>
          </p:cNvPr>
          <p:cNvSpPr/>
          <p:nvPr/>
        </p:nvSpPr>
        <p:spPr>
          <a:xfrm>
            <a:off x="2658622" y="3896647"/>
            <a:ext cx="2485414" cy="541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24h voltage at node 852r.2: OpenDSS vs 1 vs 2.1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AFD100-E356-E716-A708-389C1728C804}"/>
              </a:ext>
            </a:extLst>
          </p:cNvPr>
          <p:cNvSpPr/>
          <p:nvPr/>
        </p:nvSpPr>
        <p:spPr>
          <a:xfrm>
            <a:off x="2470047" y="4754703"/>
            <a:ext cx="1294205" cy="744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dk1"/>
                </a:solidFill>
              </a:rPr>
              <a:t>p_load_kw</a:t>
            </a:r>
            <a:r>
              <a:rPr lang="en-US" sz="1600" dirty="0">
                <a:solidFill>
                  <a:schemeClr val="dk1"/>
                </a:solidFill>
              </a:rPr>
              <a:t>, </a:t>
            </a:r>
            <a:r>
              <a:rPr lang="en-US" sz="1600" dirty="0" err="1">
                <a:solidFill>
                  <a:schemeClr val="dk1"/>
                </a:solidFill>
              </a:rPr>
              <a:t>q_load_kvar</a:t>
            </a:r>
            <a:r>
              <a:rPr lang="en-US" sz="1600" dirty="0">
                <a:solidFill>
                  <a:schemeClr val="dk1"/>
                </a:solidFill>
              </a:rPr>
              <a:t>, </a:t>
            </a:r>
            <a:r>
              <a:rPr lang="en-US" sz="1600" dirty="0" err="1">
                <a:solidFill>
                  <a:schemeClr val="dk1"/>
                </a:solidFill>
              </a:rPr>
              <a:t>p_pv_kw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F65172-0ACF-611D-BDC3-BB3E259A61B3}"/>
              </a:ext>
            </a:extLst>
          </p:cNvPr>
          <p:cNvSpPr/>
          <p:nvPr/>
        </p:nvSpPr>
        <p:spPr>
          <a:xfrm>
            <a:off x="4029364" y="5000839"/>
            <a:ext cx="3344038" cy="4881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dk1"/>
                </a:solidFill>
              </a:rPr>
              <a:t>p_inj_kw</a:t>
            </a:r>
            <a:r>
              <a:rPr lang="en-US" sz="1600" dirty="0">
                <a:solidFill>
                  <a:schemeClr val="dk1"/>
                </a:solidFill>
              </a:rPr>
              <a:t>,</a:t>
            </a:r>
          </a:p>
          <a:p>
            <a:r>
              <a:rPr lang="en-US" sz="1600" dirty="0" err="1">
                <a:solidFill>
                  <a:schemeClr val="dk1"/>
                </a:solidFill>
              </a:rPr>
              <a:t>q_inj_kvar</a:t>
            </a:r>
            <a:r>
              <a:rPr lang="en-US" sz="1600" dirty="0">
                <a:solidFill>
                  <a:schemeClr val="dk1"/>
                </a:solidFill>
              </a:rPr>
              <a:t>(</a:t>
            </a:r>
            <a:r>
              <a:rPr lang="en-US" sz="1600" dirty="0" err="1">
                <a:solidFill>
                  <a:schemeClr val="dk1"/>
                </a:solidFill>
              </a:rPr>
              <a:t>q_load_kvar-q_cap_kvar</a:t>
            </a:r>
            <a:r>
              <a:rPr lang="en-US" sz="1600" dirty="0">
                <a:solidFill>
                  <a:schemeClr val="dk1"/>
                </a:solidFill>
              </a:rPr>
              <a:t>)</a:t>
            </a:r>
            <a:endParaRPr lang="en-US" sz="160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487525A-3AB2-F83D-352E-2681F07506AA}"/>
              </a:ext>
            </a:extLst>
          </p:cNvPr>
          <p:cNvSpPr/>
          <p:nvPr/>
        </p:nvSpPr>
        <p:spPr>
          <a:xfrm>
            <a:off x="3786276" y="5164513"/>
            <a:ext cx="221064" cy="16077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A9481C2-A203-7BEE-E3BA-7F980708D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346" y="1345884"/>
            <a:ext cx="9032874" cy="538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F093C89-6CA2-F0A0-E39A-4EBDFFFECC25}"/>
              </a:ext>
            </a:extLst>
          </p:cNvPr>
          <p:cNvSpPr/>
          <p:nvPr/>
        </p:nvSpPr>
        <p:spPr>
          <a:xfrm>
            <a:off x="2811022" y="4049047"/>
            <a:ext cx="2485414" cy="541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24h voltage at node 846.3: OpenDSS vs 2.2 vs 3.1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3B73B1-AF8A-156D-59D9-8597D8AA57DB}"/>
              </a:ext>
            </a:extLst>
          </p:cNvPr>
          <p:cNvSpPr/>
          <p:nvPr/>
        </p:nvSpPr>
        <p:spPr>
          <a:xfrm>
            <a:off x="4205084" y="4794234"/>
            <a:ext cx="2175641" cy="12496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dk1"/>
                </a:solidFill>
              </a:rPr>
              <a:t>m1_p_kw, m1_q_kvar, m2_p_kw, m2_q_kvar, m4_p_kw, m4_q_kvar, m5_p_kw, m5_q_kvar, </a:t>
            </a:r>
            <a:r>
              <a:rPr lang="en-US" sz="1600" dirty="0" err="1">
                <a:solidFill>
                  <a:schemeClr val="dk1"/>
                </a:solidFill>
              </a:rPr>
              <a:t>q_cap_kvar</a:t>
            </a:r>
            <a:r>
              <a:rPr lang="en-US" sz="1600" dirty="0">
                <a:solidFill>
                  <a:schemeClr val="dk1"/>
                </a:solidFill>
              </a:rPr>
              <a:t>, </a:t>
            </a:r>
            <a:r>
              <a:rPr lang="en-US" sz="1600" dirty="0" err="1">
                <a:solidFill>
                  <a:schemeClr val="dk1"/>
                </a:solidFill>
              </a:rPr>
              <a:t>p_pv_kw</a:t>
            </a:r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52ACE3-CF60-91E7-A90E-8BF01F29FDA4}"/>
              </a:ext>
            </a:extLst>
          </p:cNvPr>
          <p:cNvSpPr/>
          <p:nvPr/>
        </p:nvSpPr>
        <p:spPr>
          <a:xfrm>
            <a:off x="2818159" y="5167969"/>
            <a:ext cx="1075173" cy="4881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dk1"/>
                </a:solidFill>
              </a:rPr>
              <a:t>p_inj_kw</a:t>
            </a:r>
            <a:r>
              <a:rPr lang="en-US" sz="1600" dirty="0">
                <a:solidFill>
                  <a:schemeClr val="dk1"/>
                </a:solidFill>
              </a:rPr>
              <a:t>,</a:t>
            </a:r>
          </a:p>
          <a:p>
            <a:r>
              <a:rPr lang="en-US" sz="1600" dirty="0" err="1">
                <a:solidFill>
                  <a:schemeClr val="dk1"/>
                </a:solidFill>
              </a:rPr>
              <a:t>q_inj_kvar</a:t>
            </a:r>
            <a:endParaRPr lang="en-US" sz="1600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2F38BA5-FB98-DC47-931E-34EFCFF0BA7F}"/>
              </a:ext>
            </a:extLst>
          </p:cNvPr>
          <p:cNvSpPr/>
          <p:nvPr/>
        </p:nvSpPr>
        <p:spPr>
          <a:xfrm>
            <a:off x="3938676" y="5316913"/>
            <a:ext cx="221064" cy="16077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16E2CD-FF20-CDBA-90D2-7E8B6B82CAF7}"/>
              </a:ext>
            </a:extLst>
          </p:cNvPr>
          <p:cNvSpPr txBox="1"/>
          <p:nvPr/>
        </p:nvSpPr>
        <p:spPr>
          <a:xfrm>
            <a:off x="3048419" y="3105835"/>
            <a:ext cx="609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</p:txBody>
      </p:sp>
      <p:pic>
        <p:nvPicPr>
          <p:cNvPr id="34" name="Picture 12">
            <a:extLst>
              <a:ext uri="{FF2B5EF4-FFF2-40B4-BE49-F238E27FC236}">
                <a16:creationId xmlns:a16="http://schemas.microsoft.com/office/drawing/2014/main" id="{35D40112-1D5A-E1B1-D1D1-C90DC8E41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961" y="1299914"/>
            <a:ext cx="9316861" cy="555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E141FA5-757E-A138-8159-95BB73606778}"/>
              </a:ext>
            </a:extLst>
          </p:cNvPr>
          <p:cNvSpPr/>
          <p:nvPr/>
        </p:nvSpPr>
        <p:spPr>
          <a:xfrm>
            <a:off x="2570488" y="3594930"/>
            <a:ext cx="2396568" cy="51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24h voltage at node 812.1: OpenDSS vs 3.1 vs 3.3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95A28-533F-E741-B239-A899EACCE5DF}"/>
              </a:ext>
            </a:extLst>
          </p:cNvPr>
          <p:cNvSpPr/>
          <p:nvPr/>
        </p:nvSpPr>
        <p:spPr>
          <a:xfrm>
            <a:off x="4270174" y="4281642"/>
            <a:ext cx="2097868" cy="12062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Same as 3.1, </a:t>
            </a:r>
            <a:r>
              <a:rPr lang="en-US" sz="1600" dirty="0" err="1">
                <a:solidFill>
                  <a:schemeClr val="tx1"/>
                </a:solidFill>
              </a:rPr>
              <a:t>electrical_distance_ohm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p_sys_balance_kw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q_sys_balance_kvar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14F838E-E631-49DB-8A5A-0E7667B6B59E}"/>
              </a:ext>
            </a:extLst>
          </p:cNvPr>
          <p:cNvSpPr/>
          <p:nvPr/>
        </p:nvSpPr>
        <p:spPr>
          <a:xfrm>
            <a:off x="3939975" y="4823216"/>
            <a:ext cx="213162" cy="15173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E7ADBC-6551-E2B0-0D9D-1B536AE1751E}"/>
              </a:ext>
            </a:extLst>
          </p:cNvPr>
          <p:cNvSpPr/>
          <p:nvPr/>
        </p:nvSpPr>
        <p:spPr>
          <a:xfrm>
            <a:off x="1795049" y="4340292"/>
            <a:ext cx="2097868" cy="11794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dk1"/>
                </a:solidFill>
              </a:rPr>
              <a:t>m1_p_kw, m1_q_kvar, m2_p_kw, m2_q_kvar, m4_p_kw, m4_q_kvar, m5_p_kw, m5_q_kvar, </a:t>
            </a:r>
            <a:r>
              <a:rPr lang="en-US" sz="1600" dirty="0" err="1">
                <a:solidFill>
                  <a:schemeClr val="dk1"/>
                </a:solidFill>
              </a:rPr>
              <a:t>q_cap_kvar</a:t>
            </a:r>
            <a:r>
              <a:rPr lang="en-US" sz="1600" dirty="0">
                <a:solidFill>
                  <a:schemeClr val="dk1"/>
                </a:solidFill>
              </a:rPr>
              <a:t>, </a:t>
            </a:r>
            <a:r>
              <a:rPr lang="en-US" sz="1600" dirty="0" err="1">
                <a:solidFill>
                  <a:schemeClr val="dk1"/>
                </a:solidFill>
              </a:rPr>
              <a:t>p_pv_kw</a:t>
            </a:r>
            <a:endParaRPr lang="en-US" sz="1600" dirty="0"/>
          </a:p>
        </p:txBody>
      </p:sp>
      <p:pic>
        <p:nvPicPr>
          <p:cNvPr id="39" name="Picture 8">
            <a:extLst>
              <a:ext uri="{FF2B5EF4-FFF2-40B4-BE49-F238E27FC236}">
                <a16:creationId xmlns:a16="http://schemas.microsoft.com/office/drawing/2014/main" id="{747C563E-B474-11E1-6371-127057A5B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60" y="1361032"/>
            <a:ext cx="9304154" cy="555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661A5AE-F18A-9EB9-869B-5C378CB1EA2E}"/>
              </a:ext>
            </a:extLst>
          </p:cNvPr>
          <p:cNvSpPr/>
          <p:nvPr/>
        </p:nvSpPr>
        <p:spPr>
          <a:xfrm>
            <a:off x="2654794" y="3935250"/>
            <a:ext cx="2378756" cy="488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24h voltage at node 848.3: OpenDSS vs 3.1 vs 3.3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76EED7-F95D-9DCA-3C95-65A2FA1AE87A}"/>
              </a:ext>
            </a:extLst>
          </p:cNvPr>
          <p:cNvSpPr/>
          <p:nvPr/>
        </p:nvSpPr>
        <p:spPr>
          <a:xfrm>
            <a:off x="4336321" y="4676511"/>
            <a:ext cx="2082276" cy="9070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Same as 3.1, </a:t>
            </a:r>
            <a:r>
              <a:rPr lang="en-US" sz="1400" dirty="0" err="1">
                <a:solidFill>
                  <a:schemeClr val="tx1"/>
                </a:solidFill>
              </a:rPr>
              <a:t>electrical_distance_ohm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p_sys_balance_kw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q_sys_balance_kvar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15BC9B5-6857-E827-D080-376C207E589F}"/>
              </a:ext>
            </a:extLst>
          </p:cNvPr>
          <p:cNvSpPr/>
          <p:nvPr/>
        </p:nvSpPr>
        <p:spPr>
          <a:xfrm>
            <a:off x="4102720" y="5052848"/>
            <a:ext cx="211577" cy="14514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2DEDF8-A185-FC37-513B-8E5B5A7EC050}"/>
              </a:ext>
            </a:extLst>
          </p:cNvPr>
          <p:cNvSpPr/>
          <p:nvPr/>
        </p:nvSpPr>
        <p:spPr>
          <a:xfrm>
            <a:off x="1977605" y="4532232"/>
            <a:ext cx="2082276" cy="11281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dk1"/>
                </a:solidFill>
              </a:rPr>
              <a:t>m1_p_kw, m1_q_kvar, m2_p_kw, m2_q_kvar, m4_p_kw, m4_q_kvar, m5_p_kw, m5_q_kvar, </a:t>
            </a:r>
            <a:r>
              <a:rPr lang="en-US" sz="1400" dirty="0" err="1">
                <a:solidFill>
                  <a:schemeClr val="dk1"/>
                </a:solidFill>
              </a:rPr>
              <a:t>q_cap_kvar</a:t>
            </a:r>
            <a:r>
              <a:rPr lang="en-US" sz="1400" dirty="0">
                <a:solidFill>
                  <a:schemeClr val="dk1"/>
                </a:solidFill>
              </a:rPr>
              <a:t>, </a:t>
            </a:r>
            <a:r>
              <a:rPr lang="en-US" sz="1400" dirty="0" err="1">
                <a:solidFill>
                  <a:schemeClr val="dk1"/>
                </a:solidFill>
              </a:rPr>
              <a:t>p_pv_kw</a:t>
            </a:r>
            <a:endParaRPr lang="en-US" sz="1400" dirty="0"/>
          </a:p>
        </p:txBody>
      </p:sp>
      <p:pic>
        <p:nvPicPr>
          <p:cNvPr id="44" name="Picture 4">
            <a:extLst>
              <a:ext uri="{FF2B5EF4-FFF2-40B4-BE49-F238E27FC236}">
                <a16:creationId xmlns:a16="http://schemas.microsoft.com/office/drawing/2014/main" id="{E1233E55-0FB1-6DCE-9EFD-8BE1AC55A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945" y="1359122"/>
            <a:ext cx="9169983" cy="54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C051069-142E-AD5A-CADB-14CB4016A239}"/>
              </a:ext>
            </a:extLst>
          </p:cNvPr>
          <p:cNvSpPr/>
          <p:nvPr/>
        </p:nvSpPr>
        <p:spPr>
          <a:xfrm>
            <a:off x="2895248" y="4311054"/>
            <a:ext cx="2467109" cy="4928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24h voltage at node 820.1: OpenDSS vs 3.3 vs 3.4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6E8AD0-F8A2-503A-5F6F-AB6821FB1E5D}"/>
              </a:ext>
            </a:extLst>
          </p:cNvPr>
          <p:cNvSpPr/>
          <p:nvPr/>
        </p:nvSpPr>
        <p:spPr>
          <a:xfrm>
            <a:off x="4648233" y="5003563"/>
            <a:ext cx="1765983" cy="33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Bidirectional edges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95801F35-F09B-D845-2C7E-F8D8CA31DF02}"/>
              </a:ext>
            </a:extLst>
          </p:cNvPr>
          <p:cNvSpPr/>
          <p:nvPr/>
        </p:nvSpPr>
        <p:spPr>
          <a:xfrm>
            <a:off x="4439031" y="5096531"/>
            <a:ext cx="219435" cy="146271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B05871-6D9E-090F-1D10-2813D5904C8A}"/>
              </a:ext>
            </a:extLst>
          </p:cNvPr>
          <p:cNvSpPr/>
          <p:nvPr/>
        </p:nvSpPr>
        <p:spPr>
          <a:xfrm>
            <a:off x="2552613" y="5012162"/>
            <a:ext cx="1862243" cy="3221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dk1"/>
                </a:solidFill>
              </a:rPr>
              <a:t>Unidirectional edges</a:t>
            </a:r>
            <a:endParaRPr lang="en-US" sz="1400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0C01539A-1698-5CCD-8790-92DC08126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671" y="1380313"/>
            <a:ext cx="9084280" cy="541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9AF893D-4A4D-5EB6-2043-0A2CBB49EE74}"/>
              </a:ext>
            </a:extLst>
          </p:cNvPr>
          <p:cNvSpPr/>
          <p:nvPr/>
        </p:nvSpPr>
        <p:spPr>
          <a:xfrm>
            <a:off x="2895248" y="4311054"/>
            <a:ext cx="2467109" cy="4928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24h voltage at node 822.1: OpenDSS vs 4.1 vs 4.2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C0815F-6221-2390-0C45-753C7732510E}"/>
              </a:ext>
            </a:extLst>
          </p:cNvPr>
          <p:cNvSpPr/>
          <p:nvPr/>
        </p:nvSpPr>
        <p:spPr>
          <a:xfrm>
            <a:off x="4428796" y="4978338"/>
            <a:ext cx="1919715" cy="5762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Three different GNN trained for each phase 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2DB8F172-5502-1F9C-B966-96B8683E0D7D}"/>
              </a:ext>
            </a:extLst>
          </p:cNvPr>
          <p:cNvSpPr/>
          <p:nvPr/>
        </p:nvSpPr>
        <p:spPr>
          <a:xfrm>
            <a:off x="4176829" y="5193325"/>
            <a:ext cx="219435" cy="146271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3A7DC5B-E297-F267-2F2A-BD9F59F8498A}"/>
              </a:ext>
            </a:extLst>
          </p:cNvPr>
          <p:cNvSpPr/>
          <p:nvPr/>
        </p:nvSpPr>
        <p:spPr>
          <a:xfrm>
            <a:off x="2552613" y="5012161"/>
            <a:ext cx="1591684" cy="4302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Phase encoded as one-hot feature</a:t>
            </a:r>
          </a:p>
        </p:txBody>
      </p:sp>
    </p:spTree>
    <p:extLst>
      <p:ext uri="{BB962C8B-B14F-4D97-AF65-F5344CB8AC3E}">
        <p14:creationId xmlns:p14="http://schemas.microsoft.com/office/powerpoint/2010/main" val="196516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9C227A-4552-4150-AB64-0C10D05DCF69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27248</TotalTime>
  <Words>1192</Words>
  <Application>Microsoft Office PowerPoint</Application>
  <PresentationFormat>Widescreen</PresentationFormat>
  <Paragraphs>126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Segoe WPC</vt:lpstr>
      <vt:lpstr>Times New Roman</vt:lpstr>
      <vt:lpstr>Office Theme</vt:lpstr>
      <vt:lpstr>Monte Carlo Power Flow with Time-Coupled Profiles for Generating Training Datasets</vt:lpstr>
      <vt:lpstr>Model Comparison and Evolution</vt:lpstr>
      <vt:lpstr>Results: OpenDSS vs GNN Predictions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Mirzaei</dc:creator>
  <cp:lastModifiedBy>Ali Tasavvori</cp:lastModifiedBy>
  <cp:revision>60</cp:revision>
  <dcterms:created xsi:type="dcterms:W3CDTF">2025-11-04T23:17:18Z</dcterms:created>
  <dcterms:modified xsi:type="dcterms:W3CDTF">2026-02-25T15:12:59Z</dcterms:modified>
</cp:coreProperties>
</file>